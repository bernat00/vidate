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66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8136" autoAdjust="0"/>
  </p:normalViewPr>
  <p:slideViewPr>
    <p:cSldViewPr snapToGrid="0" snapToObjects="1">
      <p:cViewPr>
        <p:scale>
          <a:sx n="150" d="100"/>
          <a:sy n="150" d="100"/>
        </p:scale>
        <p:origin x="474" y="-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079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városokban óriási a népsűrüség, mégis egyre nehezebben találják meg egymást az emberek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Nagyon jó a fastapi doc, meg csinal openAPI doc-ot 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hu-HU" dirty="0"/>
              <a:t>Sqlite, postgesql</a:t>
            </a:r>
            <a:br>
              <a:rPr lang="hu-HU" dirty="0"/>
            </a:br>
            <a:r>
              <a:rPr lang="hu-HU" dirty="0"/>
              <a:t>Object-Relational Mapping (objektum-adatbázis)</a:t>
            </a:r>
          </a:p>
        </p:txBody>
      </p:sp>
    </p:spTree>
    <p:extLst>
      <p:ext uri="{BB962C8B-B14F-4D97-AF65-F5344CB8AC3E}">
        <p14:creationId xmlns:p14="http://schemas.microsoft.com/office/powerpoint/2010/main" val="11382682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websocket nem szeret együttműködni a fastapi Oauth 2.0-val</a:t>
            </a:r>
            <a:br>
              <a:rPr lang="hu-HU" dirty="0"/>
            </a:br>
            <a:br>
              <a:rPr lang="hu-HU" dirty="0"/>
            </a:br>
            <a:r>
              <a:rPr lang="hu-HU" dirty="0"/>
              <a:t>HBR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>
          <a:gsLst>
            <a:gs pos="0">
              <a:srgbClr val="4A044E"/>
            </a:gs>
            <a:gs pos="100000">
              <a:srgbClr val="1E1B4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C2185B">
              <a:alpha val="15000"/>
            </a:srgbClr>
          </a:solidFill>
          <a:ln w="12700">
            <a:solidFill>
              <a:srgbClr val="C2185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E91E63">
              <a:alpha val="12000"/>
            </a:srgbClr>
          </a:solidFill>
          <a:ln w="12700">
            <a:solidFill>
              <a:srgbClr val="E91E6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4" name="Shape 2"/>
          <p:cNvSpPr/>
          <p:nvPr/>
        </p:nvSpPr>
        <p:spPr>
          <a:xfrm>
            <a:off x="7498080" y="182880"/>
            <a:ext cx="1371600" cy="1371600"/>
          </a:xfrm>
          <a:prstGeom prst="ellipse">
            <a:avLst/>
          </a:prstGeom>
          <a:solidFill>
            <a:srgbClr val="FF80AB">
              <a:alpha val="20000"/>
            </a:srgbClr>
          </a:solidFill>
          <a:ln w="12700">
            <a:solidFill>
              <a:srgbClr val="FF80A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457200"/>
            <a:ext cx="914400" cy="9144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59436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u-HU" sz="7200" b="1" kern="0" spc="800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Vidate</a:t>
            </a:r>
            <a:endParaRPr lang="hu-HU" sz="7200" noProof="0" dirty="0"/>
          </a:p>
        </p:txBody>
      </p:sp>
      <p:sp>
        <p:nvSpPr>
          <p:cNvPr id="8" name="Text 4"/>
          <p:cNvSpPr/>
          <p:nvPr/>
        </p:nvSpPr>
        <p:spPr>
          <a:xfrm>
            <a:off x="137160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u-HU" sz="2000" i="1" noProof="0" dirty="0">
                <a:solidFill>
                  <a:srgbClr val="FF8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Videó-alapú Társkereső Alkalmazás</a:t>
            </a:r>
            <a:endParaRPr lang="hu-HU" sz="2000" noProof="0" dirty="0"/>
          </a:p>
        </p:txBody>
      </p:sp>
      <p:sp>
        <p:nvSpPr>
          <p:cNvPr id="9" name="Shape 5"/>
          <p:cNvSpPr/>
          <p:nvPr/>
        </p:nvSpPr>
        <p:spPr>
          <a:xfrm>
            <a:off x="3200400" y="2880360"/>
            <a:ext cx="2743200" cy="36576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10" name="Text 6"/>
          <p:cNvSpPr/>
          <p:nvPr/>
        </p:nvSpPr>
        <p:spPr>
          <a:xfrm>
            <a:off x="731520" y="3323543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u-HU" sz="1400" noProof="0" dirty="0">
                <a:solidFill>
                  <a:srgbClr val="F3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Készítette: Zemen Dániel, Szabó Bernát</a:t>
            </a:r>
            <a:endParaRPr lang="hu-HU" sz="1400" noProof="0" dirty="0"/>
          </a:p>
        </p:txBody>
      </p:sp>
      <p:sp>
        <p:nvSpPr>
          <p:cNvPr id="12" name="Shape 8"/>
          <p:cNvSpPr/>
          <p:nvPr/>
        </p:nvSpPr>
        <p:spPr>
          <a:xfrm>
            <a:off x="1988820" y="402336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C2185B">
              <a:alpha val="40000"/>
            </a:srgbClr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13" name="Text 9"/>
          <p:cNvSpPr/>
          <p:nvPr/>
        </p:nvSpPr>
        <p:spPr>
          <a:xfrm>
            <a:off x="1988820" y="4023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100" b="1" noProof="0" dirty="0">
                <a:solidFill>
                  <a:srgbClr val="FFFFFF"/>
                </a:solidFill>
              </a:rPr>
              <a:t>React</a:t>
            </a:r>
            <a:endParaRPr lang="hu-HU" sz="1100" noProof="0" dirty="0"/>
          </a:p>
        </p:txBody>
      </p:sp>
      <p:sp>
        <p:nvSpPr>
          <p:cNvPr id="14" name="Shape 10"/>
          <p:cNvSpPr/>
          <p:nvPr/>
        </p:nvSpPr>
        <p:spPr>
          <a:xfrm>
            <a:off x="3314700" y="402336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C2185B">
              <a:alpha val="40000"/>
            </a:srgbClr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15" name="Text 11"/>
          <p:cNvSpPr/>
          <p:nvPr/>
        </p:nvSpPr>
        <p:spPr>
          <a:xfrm>
            <a:off x="3314700" y="4023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100" b="1" noProof="0" dirty="0">
                <a:solidFill>
                  <a:srgbClr val="FFFFFF"/>
                </a:solidFill>
              </a:rPr>
              <a:t>TypeScript</a:t>
            </a:r>
            <a:endParaRPr lang="hu-HU" sz="1100" noProof="0" dirty="0"/>
          </a:p>
        </p:txBody>
      </p:sp>
      <p:sp>
        <p:nvSpPr>
          <p:cNvPr id="16" name="Shape 12"/>
          <p:cNvSpPr/>
          <p:nvPr/>
        </p:nvSpPr>
        <p:spPr>
          <a:xfrm>
            <a:off x="4640580" y="402336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C2185B">
              <a:alpha val="40000"/>
            </a:srgbClr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17" name="Text 13"/>
          <p:cNvSpPr/>
          <p:nvPr/>
        </p:nvSpPr>
        <p:spPr>
          <a:xfrm>
            <a:off x="4640580" y="4023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100" b="1" noProof="0" dirty="0">
                <a:solidFill>
                  <a:srgbClr val="FFFFFF"/>
                </a:solidFill>
              </a:rPr>
              <a:t>Python</a:t>
            </a:r>
            <a:endParaRPr lang="hu-HU" sz="1100" noProof="0" dirty="0"/>
          </a:p>
        </p:txBody>
      </p:sp>
      <p:sp>
        <p:nvSpPr>
          <p:cNvPr id="18" name="Shape 14"/>
          <p:cNvSpPr/>
          <p:nvPr/>
        </p:nvSpPr>
        <p:spPr>
          <a:xfrm>
            <a:off x="5966460" y="402336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C2185B">
              <a:alpha val="40000"/>
            </a:srgbClr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19" name="Text 15"/>
          <p:cNvSpPr/>
          <p:nvPr/>
        </p:nvSpPr>
        <p:spPr>
          <a:xfrm>
            <a:off x="5966460" y="4023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100" b="1" noProof="0" dirty="0">
                <a:solidFill>
                  <a:srgbClr val="FFFFFF"/>
                </a:solidFill>
              </a:rPr>
              <a:t>FastAPI</a:t>
            </a:r>
            <a:endParaRPr lang="hu-HU" sz="1100" noProof="0" dirty="0"/>
          </a:p>
        </p:txBody>
      </p:sp>
      <p:sp>
        <p:nvSpPr>
          <p:cNvPr id="20" name="Text 16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u-HU" sz="1000" noProof="0" dirty="0">
                <a:solidFill>
                  <a:srgbClr val="9E7E8A"/>
                </a:solidFill>
              </a:rPr>
              <a:t>1 / 10</a:t>
            </a:r>
            <a:endParaRPr lang="hu-HU" sz="1000" noProof="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3EE4860-B895-05DB-A0F4-AA92972D88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05740" y="-987061"/>
            <a:ext cx="2788920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rotWithShape="1">
          <a:gsLst>
            <a:gs pos="0">
              <a:srgbClr val="4A044E"/>
            </a:gs>
            <a:gs pos="100000">
              <a:srgbClr val="1E1B4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30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Bevezetés &amp; Motiváció</a:t>
            </a:r>
            <a:endParaRPr lang="hu-HU" sz="3000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19039" y="1051560"/>
            <a:ext cx="26060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6" name="Shape 3"/>
          <p:cNvSpPr/>
          <p:nvPr/>
        </p:nvSpPr>
        <p:spPr>
          <a:xfrm>
            <a:off x="365760" y="1051560"/>
            <a:ext cx="54864" cy="347472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7" name="Text 4"/>
          <p:cNvSpPr/>
          <p:nvPr/>
        </p:nvSpPr>
        <p:spPr>
          <a:xfrm>
            <a:off x="530352" y="1143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b="1" noProof="0" dirty="0">
                <a:solidFill>
                  <a:srgbClr val="12030B"/>
                </a:solidFill>
              </a:rPr>
              <a:t>A probléma</a:t>
            </a:r>
            <a:endParaRPr lang="hu-HU" noProof="0" dirty="0"/>
          </a:p>
        </p:txBody>
      </p:sp>
      <p:sp>
        <p:nvSpPr>
          <p:cNvPr id="8" name="Text 5"/>
          <p:cNvSpPr/>
          <p:nvPr/>
        </p:nvSpPr>
        <p:spPr>
          <a:xfrm>
            <a:off x="530352" y="1967738"/>
            <a:ext cx="2286000" cy="174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hu-HU" sz="1200" dirty="0"/>
              <a:t>Az összes társkeresőben sok 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hu-HU" sz="1200" dirty="0"/>
              <a:t>Catfishing: hamis profilok</a:t>
            </a:r>
            <a:endParaRPr lang="hu-HU" sz="1200" noProof="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hu-HU" sz="1200" dirty="0"/>
              <a:t>Ghosting: hirtelen eltűnés</a:t>
            </a:r>
          </a:p>
          <a:p>
            <a:pPr lvl="1"/>
            <a:endParaRPr lang="hu-HU" sz="12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200" noProof="0" dirty="0"/>
              <a:t>Senki se néz fel és beszélget el egy másik emberrel</a:t>
            </a:r>
          </a:p>
        </p:txBody>
      </p:sp>
      <p:sp>
        <p:nvSpPr>
          <p:cNvPr id="9" name="Shape 6"/>
          <p:cNvSpPr/>
          <p:nvPr/>
        </p:nvSpPr>
        <p:spPr>
          <a:xfrm>
            <a:off x="3200400" y="1051560"/>
            <a:ext cx="26060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10" name="Shape 7"/>
          <p:cNvSpPr/>
          <p:nvPr/>
        </p:nvSpPr>
        <p:spPr>
          <a:xfrm>
            <a:off x="3200400" y="1051560"/>
            <a:ext cx="54864" cy="347472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11" name="Text 8"/>
          <p:cNvSpPr/>
          <p:nvPr/>
        </p:nvSpPr>
        <p:spPr>
          <a:xfrm>
            <a:off x="3364992" y="1143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b="1" noProof="0" dirty="0">
                <a:solidFill>
                  <a:srgbClr val="12030B"/>
                </a:solidFill>
              </a:rPr>
              <a:t>Az ötlet</a:t>
            </a:r>
            <a:endParaRPr lang="hu-HU" noProof="0" dirty="0"/>
          </a:p>
        </p:txBody>
      </p:sp>
      <p:sp>
        <p:nvSpPr>
          <p:cNvPr id="12" name="Text 9"/>
          <p:cNvSpPr/>
          <p:nvPr/>
        </p:nvSpPr>
        <p:spPr>
          <a:xfrm>
            <a:off x="3384283" y="1967738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hu-HU" sz="1200" dirty="0"/>
              <a:t>Igazi első benyomás Élőben</a:t>
            </a:r>
          </a:p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hu-HU" sz="1200" dirty="0"/>
              <a:t>Egy okos algoritmus</a:t>
            </a:r>
          </a:p>
        </p:txBody>
      </p:sp>
      <p:sp>
        <p:nvSpPr>
          <p:cNvPr id="13" name="Shape 10"/>
          <p:cNvSpPr/>
          <p:nvPr/>
        </p:nvSpPr>
        <p:spPr>
          <a:xfrm>
            <a:off x="6035040" y="1051560"/>
            <a:ext cx="26060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14" name="Shape 11"/>
          <p:cNvSpPr/>
          <p:nvPr/>
        </p:nvSpPr>
        <p:spPr>
          <a:xfrm>
            <a:off x="6035040" y="1051560"/>
            <a:ext cx="54864" cy="3474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15" name="Text 12"/>
          <p:cNvSpPr/>
          <p:nvPr/>
        </p:nvSpPr>
        <p:spPr>
          <a:xfrm>
            <a:off x="6199632" y="1143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b="1" noProof="0" dirty="0">
                <a:solidFill>
                  <a:srgbClr val="12030B"/>
                </a:solidFill>
              </a:rPr>
              <a:t>A cél</a:t>
            </a:r>
            <a:endParaRPr lang="hu-HU" noProof="0" dirty="0"/>
          </a:p>
        </p:txBody>
      </p:sp>
      <p:sp>
        <p:nvSpPr>
          <p:cNvPr id="16" name="Text 13"/>
          <p:cNvSpPr/>
          <p:nvPr/>
        </p:nvSpPr>
        <p:spPr>
          <a:xfrm>
            <a:off x="6195060" y="1967738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hu-HU" sz="1200" noProof="0" dirty="0"/>
              <a:t>Közvetlenebb emberi kapcsolatok</a:t>
            </a:r>
          </a:p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hu-HU" sz="1200" dirty="0"/>
              <a:t>Kevesebb csalódás az első randin</a:t>
            </a:r>
          </a:p>
          <a:p>
            <a:endParaRPr lang="hu-HU" sz="1200" noProof="0" dirty="0"/>
          </a:p>
        </p:txBody>
      </p:sp>
      <p:sp>
        <p:nvSpPr>
          <p:cNvPr id="17" name="Text 14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u-HU" sz="1000" noProof="0" dirty="0">
                <a:solidFill>
                  <a:srgbClr val="9E7E8A"/>
                </a:solidFill>
              </a:rPr>
              <a:t>2 / 10</a:t>
            </a:r>
            <a:endParaRPr lang="hu-HU" sz="10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rotWithShape="1">
          <a:gsLst>
            <a:gs pos="0">
              <a:srgbClr val="4A044E"/>
            </a:gs>
            <a:gs pos="100000">
              <a:srgbClr val="1E1B4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2">
            <a:extLst>
              <a:ext uri="{FF2B5EF4-FFF2-40B4-BE49-F238E27FC236}">
                <a16:creationId xmlns:a16="http://schemas.microsoft.com/office/drawing/2014/main" id="{C377D0BC-9130-BA49-B28B-AF88594B6ABF}"/>
              </a:ext>
            </a:extLst>
          </p:cNvPr>
          <p:cNvSpPr/>
          <p:nvPr/>
        </p:nvSpPr>
        <p:spPr>
          <a:xfrm>
            <a:off x="5413626" y="1732098"/>
            <a:ext cx="2606040" cy="247523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01C77F97-4C38-0558-022D-C8AB34F67D18}"/>
              </a:ext>
            </a:extLst>
          </p:cNvPr>
          <p:cNvSpPr/>
          <p:nvPr/>
        </p:nvSpPr>
        <p:spPr>
          <a:xfrm>
            <a:off x="5460347" y="1732098"/>
            <a:ext cx="54864" cy="247523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E3FF2B5C-8169-AB49-73D4-A19C52F11ABC}"/>
              </a:ext>
            </a:extLst>
          </p:cNvPr>
          <p:cNvSpPr/>
          <p:nvPr/>
        </p:nvSpPr>
        <p:spPr>
          <a:xfrm>
            <a:off x="1042002" y="1732098"/>
            <a:ext cx="2606040" cy="247523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E8A9A53E-48DF-0700-FA33-CDC3C4D40758}"/>
              </a:ext>
            </a:extLst>
          </p:cNvPr>
          <p:cNvSpPr/>
          <p:nvPr/>
        </p:nvSpPr>
        <p:spPr>
          <a:xfrm>
            <a:off x="1088723" y="1732098"/>
            <a:ext cx="54864" cy="247523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30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Munkamegosztás</a:t>
            </a:r>
            <a:endParaRPr lang="hu-HU" sz="3000" noProof="0" dirty="0"/>
          </a:p>
        </p:txBody>
      </p:sp>
      <p:sp>
        <p:nvSpPr>
          <p:cNvPr id="28" name="Text 26"/>
          <p:cNvSpPr/>
          <p:nvPr/>
        </p:nvSpPr>
        <p:spPr>
          <a:xfrm>
            <a:off x="8229600" y="464874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u-HU" sz="1000" noProof="0" dirty="0">
                <a:solidFill>
                  <a:srgbClr val="9E7E8A"/>
                </a:solidFill>
              </a:rPr>
              <a:t>3 / 10</a:t>
            </a:r>
            <a:endParaRPr lang="hu-HU" sz="1000" noProof="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6D1687-DB3D-01FF-CD51-228D090E5D95}"/>
              </a:ext>
            </a:extLst>
          </p:cNvPr>
          <p:cNvSpPr txBox="1"/>
          <p:nvPr/>
        </p:nvSpPr>
        <p:spPr>
          <a:xfrm>
            <a:off x="854855" y="1732098"/>
            <a:ext cx="210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Zemen Dániel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B89E78-DEC8-04C5-08A3-18C14D52F800}"/>
              </a:ext>
            </a:extLst>
          </p:cNvPr>
          <p:cNvSpPr txBox="1"/>
          <p:nvPr/>
        </p:nvSpPr>
        <p:spPr>
          <a:xfrm>
            <a:off x="5217864" y="1732098"/>
            <a:ext cx="210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Szabó Bernát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0CAE4D-4D27-4B41-4A3D-1B75F214D8BD}"/>
              </a:ext>
            </a:extLst>
          </p:cNvPr>
          <p:cNvSpPr txBox="1"/>
          <p:nvPr/>
        </p:nvSpPr>
        <p:spPr>
          <a:xfrm>
            <a:off x="1227146" y="2415715"/>
            <a:ext cx="27105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Frontend (99%-a)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Realtime </a:t>
            </a:r>
            <a:br>
              <a:rPr lang="hu-HU" dirty="0"/>
            </a:br>
            <a:r>
              <a:rPr lang="hu-HU" dirty="0"/>
              <a:t>(videó-chat, chat)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Matchmaking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877BB9-5AAA-2E97-D81C-E6DF604FA863}"/>
              </a:ext>
            </a:extLst>
          </p:cNvPr>
          <p:cNvSpPr txBox="1"/>
          <p:nvPr/>
        </p:nvSpPr>
        <p:spPr>
          <a:xfrm>
            <a:off x="5661094" y="2415715"/>
            <a:ext cx="27105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REST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Authentikáció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Perzisztencia (adatbázis)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Tesztek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 rotWithShape="1">
          <a:gsLst>
            <a:gs pos="0">
              <a:srgbClr val="4A044E"/>
            </a:gs>
            <a:gs pos="100000">
              <a:srgbClr val="1E1B4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C2185B">
              <a:alpha val="8000"/>
            </a:srgbClr>
          </a:solidFill>
          <a:ln w="12700">
            <a:solidFill>
              <a:srgbClr val="C2185B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30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Technológiai Stack</a:t>
            </a:r>
            <a:endParaRPr lang="hu-HU" sz="30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2D0F1E"/>
          </a:solidFill>
          <a:ln w="6350">
            <a:solidFill>
              <a:srgbClr val="3D1A2E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4864" cy="77724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300" b="1" noProof="0" dirty="0">
                <a:solidFill>
                  <a:srgbClr val="E91E63"/>
                </a:solidFill>
              </a:rPr>
              <a:t>Frontend</a:t>
            </a:r>
            <a:endParaRPr lang="hu-HU" sz="1300" noProof="0" dirty="0"/>
          </a:p>
        </p:txBody>
      </p:sp>
      <p:sp>
        <p:nvSpPr>
          <p:cNvPr id="9" name="Text 7"/>
          <p:cNvSpPr/>
          <p:nvPr/>
        </p:nvSpPr>
        <p:spPr>
          <a:xfrm>
            <a:off x="2011680" y="109728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300" noProof="0" dirty="0">
                <a:solidFill>
                  <a:srgbClr val="F3D6E4"/>
                </a:solidFill>
              </a:rPr>
              <a:t>React 18  ·  TypeScript  ·  Vite  ·  TailwindCSS  ·  React Router</a:t>
            </a:r>
            <a:endParaRPr lang="hu-HU" sz="1300" noProof="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2D0F1E"/>
          </a:solidFill>
          <a:ln w="6350">
            <a:solidFill>
              <a:srgbClr val="3D1A2E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54864" cy="7772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300" b="1" noProof="0" dirty="0">
                <a:solidFill>
                  <a:srgbClr val="00897B"/>
                </a:solidFill>
              </a:rPr>
              <a:t>Backend</a:t>
            </a:r>
            <a:endParaRPr lang="hu-HU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2011680" y="205740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300" noProof="0" dirty="0">
                <a:solidFill>
                  <a:srgbClr val="F3D6E4"/>
                </a:solidFill>
              </a:rPr>
              <a:t>Python 3.11  ·  FastAPI  ·  SQLAlchemy  ·  Uvicorn  ·  Pydantic</a:t>
            </a:r>
            <a:endParaRPr lang="hu-HU" sz="1300" noProof="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solidFill>
            <a:srgbClr val="2D0F1E"/>
          </a:solidFill>
          <a:ln w="6350">
            <a:solidFill>
              <a:srgbClr val="3D1A2E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54864" cy="7772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16" name="Text 14"/>
          <p:cNvSpPr/>
          <p:nvPr/>
        </p:nvSpPr>
        <p:spPr>
          <a:xfrm>
            <a:off x="640080" y="30175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300" b="1" noProof="0" dirty="0">
                <a:solidFill>
                  <a:srgbClr val="F9A825"/>
                </a:solidFill>
              </a:rPr>
              <a:t>Adatbázis</a:t>
            </a:r>
            <a:endParaRPr lang="hu-HU" sz="1300" noProof="0" dirty="0"/>
          </a:p>
        </p:txBody>
      </p:sp>
      <p:sp>
        <p:nvSpPr>
          <p:cNvPr id="17" name="Text 15"/>
          <p:cNvSpPr/>
          <p:nvPr/>
        </p:nvSpPr>
        <p:spPr>
          <a:xfrm>
            <a:off x="2011680" y="301752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1300" noProof="0" dirty="0">
                <a:solidFill>
                  <a:srgbClr val="F3D6E4"/>
                </a:solidFill>
              </a:rPr>
              <a:t>PostgreSQL </a:t>
            </a:r>
            <a:r>
              <a:rPr lang="hu-HU" sz="1300" dirty="0">
                <a:solidFill>
                  <a:srgbClr val="F3D6E4"/>
                </a:solidFill>
              </a:rPr>
              <a:t>(SQLite)  </a:t>
            </a:r>
            <a:r>
              <a:rPr lang="hu-HU" sz="1300" noProof="0" dirty="0">
                <a:solidFill>
                  <a:srgbClr val="F3D6E4"/>
                </a:solidFill>
              </a:rPr>
              <a:t>· </a:t>
            </a:r>
            <a:r>
              <a:rPr lang="hu-HU" sz="1300" dirty="0">
                <a:solidFill>
                  <a:srgbClr val="F3D6E4"/>
                </a:solidFill>
              </a:rPr>
              <a:t> Redis (Realtime, Geo, Matchmaking pool)</a:t>
            </a:r>
            <a:endParaRPr lang="hu-HU" sz="1300" noProof="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2D0F1E"/>
          </a:solidFill>
          <a:ln w="6350">
            <a:solidFill>
              <a:srgbClr val="3D1A2E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54864" cy="777240"/>
          </a:xfrm>
          <a:prstGeom prst="rect">
            <a:avLst/>
          </a:prstGeom>
          <a:solidFill>
            <a:srgbClr val="FF80AB"/>
          </a:solidFill>
          <a:ln w="12700">
            <a:solidFill>
              <a:srgbClr val="FF80AB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20" name="Text 18"/>
          <p:cNvSpPr/>
          <p:nvPr/>
        </p:nvSpPr>
        <p:spPr>
          <a:xfrm>
            <a:off x="640080" y="39776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300" b="1" noProof="0" dirty="0">
                <a:solidFill>
                  <a:srgbClr val="FF80AB"/>
                </a:solidFill>
              </a:rPr>
              <a:t>Egyéb</a:t>
            </a:r>
            <a:endParaRPr lang="hu-HU" sz="1300" noProof="0" dirty="0"/>
          </a:p>
        </p:txBody>
      </p:sp>
      <p:sp>
        <p:nvSpPr>
          <p:cNvPr id="21" name="Text 19"/>
          <p:cNvSpPr/>
          <p:nvPr/>
        </p:nvSpPr>
        <p:spPr>
          <a:xfrm>
            <a:off x="2011680" y="397764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300" noProof="0" dirty="0">
                <a:solidFill>
                  <a:srgbClr val="F3D6E4"/>
                </a:solidFill>
              </a:rPr>
              <a:t>JWT Auth  ·  WebRTC / Videó  ·  Docker  ·  GitHub</a:t>
            </a:r>
            <a:endParaRPr lang="hu-HU" sz="1300" noProof="0" dirty="0"/>
          </a:p>
        </p:txBody>
      </p:sp>
      <p:sp>
        <p:nvSpPr>
          <p:cNvPr id="22" name="Text 20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u-HU" sz="1000" noProof="0" dirty="0">
                <a:solidFill>
                  <a:srgbClr val="9E7E8A"/>
                </a:solidFill>
              </a:rPr>
              <a:t>4 / 10</a:t>
            </a:r>
            <a:endParaRPr lang="hu-HU" sz="10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rotWithShape="1">
          <a:gsLst>
            <a:gs pos="0">
              <a:srgbClr val="4A044E"/>
            </a:gs>
            <a:gs pos="100000">
              <a:srgbClr val="1E1B4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30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Funkciók</a:t>
            </a:r>
            <a:endParaRPr lang="hu-HU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54864" cy="155448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6" name="Text 4"/>
          <p:cNvSpPr/>
          <p:nvPr/>
        </p:nvSpPr>
        <p:spPr>
          <a:xfrm>
            <a:off x="484632" y="1143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300" b="1" noProof="0" dirty="0">
                <a:solidFill>
                  <a:srgbClr val="12030B"/>
                </a:solidFill>
              </a:rPr>
              <a:t>Regisztráció &amp; Bejelentkezés</a:t>
            </a:r>
            <a:endParaRPr lang="hu-HU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484632" y="1645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hu-HU" sz="1100" noProof="0" dirty="0">
                <a:solidFill>
                  <a:srgbClr val="555555"/>
                </a:solidFill>
              </a:rPr>
              <a:t>JWT token alapú hitelesítés, védett útvonalak</a:t>
            </a:r>
            <a:endParaRPr lang="hu-HU" sz="1100" noProof="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54864" cy="155448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10" name="Text 8"/>
          <p:cNvSpPr/>
          <p:nvPr/>
        </p:nvSpPr>
        <p:spPr>
          <a:xfrm>
            <a:off x="3364992" y="1143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300" b="1" noProof="0" dirty="0">
                <a:solidFill>
                  <a:srgbClr val="12030B"/>
                </a:solidFill>
              </a:rPr>
              <a:t>Admin panel</a:t>
            </a:r>
            <a:endParaRPr lang="hu-HU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3364992" y="1645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hu-HU" sz="1100" dirty="0">
                <a:solidFill>
                  <a:srgbClr val="555555"/>
                </a:solidFill>
              </a:rPr>
              <a:t>Adminok megnézhetik a jelentett profilokat, bannolhatnak, admin regisztráló linket generálhatnak</a:t>
            </a:r>
            <a:endParaRPr lang="hu-HU" sz="1100" noProof="0" dirty="0"/>
          </a:p>
        </p:txBody>
      </p:sp>
      <p:sp>
        <p:nvSpPr>
          <p:cNvPr id="12" name="Shape 10"/>
          <p:cNvSpPr/>
          <p:nvPr/>
        </p:nvSpPr>
        <p:spPr>
          <a:xfrm>
            <a:off x="6080760" y="105156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13" name="Shape 11"/>
          <p:cNvSpPr/>
          <p:nvPr/>
        </p:nvSpPr>
        <p:spPr>
          <a:xfrm>
            <a:off x="6080760" y="1051560"/>
            <a:ext cx="54864" cy="155448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14" name="Text 12"/>
          <p:cNvSpPr/>
          <p:nvPr/>
        </p:nvSpPr>
        <p:spPr>
          <a:xfrm>
            <a:off x="6245352" y="1143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300" b="1" noProof="0" dirty="0">
                <a:solidFill>
                  <a:srgbClr val="12030B"/>
                </a:solidFill>
              </a:rPr>
              <a:t>Videó feed</a:t>
            </a:r>
            <a:endParaRPr lang="hu-HU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6245352" y="1645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hu-HU" sz="1100" noProof="0" dirty="0">
                <a:solidFill>
                  <a:srgbClr val="555555"/>
                </a:solidFill>
              </a:rPr>
              <a:t>Bemutatkozó </a:t>
            </a:r>
            <a:r>
              <a:rPr lang="hu-HU" sz="1100" dirty="0">
                <a:solidFill>
                  <a:srgbClr val="555555"/>
                </a:solidFill>
              </a:rPr>
              <a:t>video-chat</a:t>
            </a:r>
            <a:r>
              <a:rPr lang="hu-HU" sz="1100" noProof="0" dirty="0">
                <a:solidFill>
                  <a:srgbClr val="555555"/>
                </a:solidFill>
              </a:rPr>
              <a:t>, like/pass</a:t>
            </a:r>
            <a:endParaRPr lang="hu-HU" sz="1100" noProof="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17" name="Shape 15"/>
          <p:cNvSpPr/>
          <p:nvPr/>
        </p:nvSpPr>
        <p:spPr>
          <a:xfrm>
            <a:off x="320040" y="2834640"/>
            <a:ext cx="54864" cy="155448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18" name="Text 16"/>
          <p:cNvSpPr/>
          <p:nvPr/>
        </p:nvSpPr>
        <p:spPr>
          <a:xfrm>
            <a:off x="484632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300" b="1" noProof="0" dirty="0">
                <a:solidFill>
                  <a:srgbClr val="12030B"/>
                </a:solidFill>
              </a:rPr>
              <a:t>Match</a:t>
            </a:r>
            <a:r>
              <a:rPr lang="hu-HU" sz="1300" b="1" dirty="0">
                <a:solidFill>
                  <a:srgbClr val="12030B"/>
                </a:solidFill>
              </a:rPr>
              <a:t>making</a:t>
            </a:r>
            <a:endParaRPr lang="hu-HU" sz="1300" noProof="0" dirty="0"/>
          </a:p>
        </p:txBody>
      </p:sp>
      <p:sp>
        <p:nvSpPr>
          <p:cNvPr id="19" name="Text 17"/>
          <p:cNvSpPr/>
          <p:nvPr/>
        </p:nvSpPr>
        <p:spPr>
          <a:xfrm>
            <a:off x="484632" y="3429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hu-HU" sz="1100" dirty="0">
                <a:solidFill>
                  <a:srgbClr val="555555"/>
                </a:solidFill>
              </a:rPr>
              <a:t>Tartózkodási hely, preferenciák alapján párosítja a rendszer össze az embereket</a:t>
            </a:r>
          </a:p>
        </p:txBody>
      </p:sp>
      <p:sp>
        <p:nvSpPr>
          <p:cNvPr id="20" name="Shape 18"/>
          <p:cNvSpPr/>
          <p:nvPr/>
        </p:nvSpPr>
        <p:spPr>
          <a:xfrm>
            <a:off x="3200400" y="283464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21" name="Shape 19"/>
          <p:cNvSpPr/>
          <p:nvPr/>
        </p:nvSpPr>
        <p:spPr>
          <a:xfrm>
            <a:off x="3200400" y="2834640"/>
            <a:ext cx="54864" cy="155448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22" name="Text 20"/>
          <p:cNvSpPr/>
          <p:nvPr/>
        </p:nvSpPr>
        <p:spPr>
          <a:xfrm>
            <a:off x="3364992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300" b="1" noProof="0" dirty="0">
                <a:solidFill>
                  <a:srgbClr val="12030B"/>
                </a:solidFill>
              </a:rPr>
              <a:t>Valósidejű chat</a:t>
            </a:r>
            <a:endParaRPr lang="hu-HU" sz="1300" noProof="0" dirty="0"/>
          </a:p>
        </p:txBody>
      </p:sp>
      <p:sp>
        <p:nvSpPr>
          <p:cNvPr id="23" name="Text 21"/>
          <p:cNvSpPr/>
          <p:nvPr/>
        </p:nvSpPr>
        <p:spPr>
          <a:xfrm>
            <a:off x="3364992" y="3429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hu-HU" sz="1100" noProof="0" dirty="0">
                <a:solidFill>
                  <a:srgbClr val="555555"/>
                </a:solidFill>
              </a:rPr>
              <a:t>WebSocket alapú valós idejű üzenetküldés</a:t>
            </a:r>
            <a:endParaRPr lang="hu-HU" sz="1100" noProof="0" dirty="0"/>
          </a:p>
        </p:txBody>
      </p:sp>
      <p:sp>
        <p:nvSpPr>
          <p:cNvPr id="24" name="Shape 22"/>
          <p:cNvSpPr/>
          <p:nvPr/>
        </p:nvSpPr>
        <p:spPr>
          <a:xfrm>
            <a:off x="6080760" y="283464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25" name="Shape 23"/>
          <p:cNvSpPr/>
          <p:nvPr/>
        </p:nvSpPr>
        <p:spPr>
          <a:xfrm>
            <a:off x="6080760" y="2834640"/>
            <a:ext cx="54864" cy="155448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26" name="Text 24"/>
          <p:cNvSpPr/>
          <p:nvPr/>
        </p:nvSpPr>
        <p:spPr>
          <a:xfrm>
            <a:off x="6245352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300" b="1" noProof="0" dirty="0">
                <a:solidFill>
                  <a:srgbClr val="12030B"/>
                </a:solidFill>
              </a:rPr>
              <a:t>Reszponzív UI</a:t>
            </a:r>
            <a:endParaRPr lang="hu-HU" sz="1300" noProof="0" dirty="0"/>
          </a:p>
        </p:txBody>
      </p:sp>
      <p:sp>
        <p:nvSpPr>
          <p:cNvPr id="27" name="Text 25"/>
          <p:cNvSpPr/>
          <p:nvPr/>
        </p:nvSpPr>
        <p:spPr>
          <a:xfrm>
            <a:off x="6245352" y="3429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hu-HU" sz="1100" noProof="0" dirty="0">
                <a:solidFill>
                  <a:srgbClr val="555555"/>
                </a:solidFill>
              </a:rPr>
              <a:t>TailwindCSS alapú, mobilon is működő felhasználói felület</a:t>
            </a:r>
            <a:endParaRPr lang="hu-HU" sz="1100" noProof="0" dirty="0"/>
          </a:p>
        </p:txBody>
      </p:sp>
      <p:sp>
        <p:nvSpPr>
          <p:cNvPr id="28" name="Text 26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u-HU" sz="1000" dirty="0">
                <a:solidFill>
                  <a:srgbClr val="9E7E8A"/>
                </a:solidFill>
              </a:rPr>
              <a:t>5</a:t>
            </a:r>
            <a:r>
              <a:rPr lang="hu-HU" sz="1000" noProof="0" dirty="0">
                <a:solidFill>
                  <a:srgbClr val="9E7E8A"/>
                </a:solidFill>
              </a:rPr>
              <a:t>/ 10</a:t>
            </a:r>
            <a:endParaRPr lang="hu-HU" sz="10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gradFill rotWithShape="1">
          <a:gsLst>
            <a:gs pos="0">
              <a:srgbClr val="4A044E"/>
            </a:gs>
            <a:gs pos="100000">
              <a:srgbClr val="1E1B4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30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Matchmaking</a:t>
            </a:r>
            <a:endParaRPr lang="hu-HU" sz="3000" noProof="0" dirty="0"/>
          </a:p>
        </p:txBody>
      </p:sp>
      <p:sp>
        <p:nvSpPr>
          <p:cNvPr id="42" name="Text 40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u-HU" sz="1000" dirty="0">
                <a:solidFill>
                  <a:srgbClr val="9E7E8A"/>
                </a:solidFill>
              </a:rPr>
              <a:t>6</a:t>
            </a:r>
            <a:r>
              <a:rPr lang="hu-HU" sz="1000" noProof="0" dirty="0">
                <a:solidFill>
                  <a:srgbClr val="9E7E8A"/>
                </a:solidFill>
              </a:rPr>
              <a:t> / 10</a:t>
            </a:r>
            <a:endParaRPr lang="hu-HU" sz="1000" noProof="0" dirty="0"/>
          </a:p>
        </p:txBody>
      </p:sp>
      <p:sp>
        <p:nvSpPr>
          <p:cNvPr id="44" name="Shape 2">
            <a:extLst>
              <a:ext uri="{FF2B5EF4-FFF2-40B4-BE49-F238E27FC236}">
                <a16:creationId xmlns:a16="http://schemas.microsoft.com/office/drawing/2014/main" id="{F2249CFA-B207-0BF3-D91F-CE9BBAEBB558}"/>
              </a:ext>
            </a:extLst>
          </p:cNvPr>
          <p:cNvSpPr/>
          <p:nvPr/>
        </p:nvSpPr>
        <p:spPr>
          <a:xfrm>
            <a:off x="567690" y="1200150"/>
            <a:ext cx="343535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45" name="Shape 3">
            <a:extLst>
              <a:ext uri="{FF2B5EF4-FFF2-40B4-BE49-F238E27FC236}">
                <a16:creationId xmlns:a16="http://schemas.microsoft.com/office/drawing/2014/main" id="{CC975816-D938-E398-8F9C-18B235828838}"/>
              </a:ext>
            </a:extLst>
          </p:cNvPr>
          <p:cNvSpPr/>
          <p:nvPr/>
        </p:nvSpPr>
        <p:spPr>
          <a:xfrm>
            <a:off x="567690" y="1200150"/>
            <a:ext cx="71076" cy="155448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46" name="Text 4">
            <a:extLst>
              <a:ext uri="{FF2B5EF4-FFF2-40B4-BE49-F238E27FC236}">
                <a16:creationId xmlns:a16="http://schemas.microsoft.com/office/drawing/2014/main" id="{6ABA30CC-8F35-C791-D421-02FAB8E4B817}"/>
              </a:ext>
            </a:extLst>
          </p:cNvPr>
          <p:cNvSpPr/>
          <p:nvPr/>
        </p:nvSpPr>
        <p:spPr>
          <a:xfrm>
            <a:off x="732281" y="1291590"/>
            <a:ext cx="30207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1300" b="1" dirty="0">
                <a:solidFill>
                  <a:srgbClr val="12030B"/>
                </a:solidFill>
              </a:rPr>
              <a:t>Redis + PostgreSQL</a:t>
            </a:r>
          </a:p>
        </p:txBody>
      </p:sp>
      <p:sp>
        <p:nvSpPr>
          <p:cNvPr id="47" name="Text 5">
            <a:extLst>
              <a:ext uri="{FF2B5EF4-FFF2-40B4-BE49-F238E27FC236}">
                <a16:creationId xmlns:a16="http://schemas.microsoft.com/office/drawing/2014/main" id="{C0D21E58-BD5E-B374-D47A-2550926BD7E7}"/>
              </a:ext>
            </a:extLst>
          </p:cNvPr>
          <p:cNvSpPr/>
          <p:nvPr/>
        </p:nvSpPr>
        <p:spPr>
          <a:xfrm>
            <a:off x="732281" y="1794510"/>
            <a:ext cx="30207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hu-HU" sz="1100" dirty="0">
                <a:solidFill>
                  <a:srgbClr val="555555"/>
                </a:solidFill>
              </a:rPr>
              <a:t>Pool a Redis-ben, végleges adatok Postgres-ben.</a:t>
            </a:r>
          </a:p>
        </p:txBody>
      </p:sp>
      <p:sp>
        <p:nvSpPr>
          <p:cNvPr id="48" name="Shape 6">
            <a:extLst>
              <a:ext uri="{FF2B5EF4-FFF2-40B4-BE49-F238E27FC236}">
                <a16:creationId xmlns:a16="http://schemas.microsoft.com/office/drawing/2014/main" id="{35E50EDE-2526-235D-E5E7-9CC1AA2CEFF8}"/>
              </a:ext>
            </a:extLst>
          </p:cNvPr>
          <p:cNvSpPr/>
          <p:nvPr/>
        </p:nvSpPr>
        <p:spPr>
          <a:xfrm>
            <a:off x="5140962" y="1200150"/>
            <a:ext cx="343535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49" name="Shape 7">
            <a:extLst>
              <a:ext uri="{FF2B5EF4-FFF2-40B4-BE49-F238E27FC236}">
                <a16:creationId xmlns:a16="http://schemas.microsoft.com/office/drawing/2014/main" id="{92F0613D-859C-2001-3F74-2BD5404CDBE3}"/>
              </a:ext>
            </a:extLst>
          </p:cNvPr>
          <p:cNvSpPr/>
          <p:nvPr/>
        </p:nvSpPr>
        <p:spPr>
          <a:xfrm>
            <a:off x="5140962" y="1200150"/>
            <a:ext cx="71076" cy="155448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50" name="Text 8">
            <a:extLst>
              <a:ext uri="{FF2B5EF4-FFF2-40B4-BE49-F238E27FC236}">
                <a16:creationId xmlns:a16="http://schemas.microsoft.com/office/drawing/2014/main" id="{47EF4364-A72A-F3DB-30A6-7628DD0AE554}"/>
              </a:ext>
            </a:extLst>
          </p:cNvPr>
          <p:cNvSpPr/>
          <p:nvPr/>
        </p:nvSpPr>
        <p:spPr>
          <a:xfrm>
            <a:off x="5305553" y="1291590"/>
            <a:ext cx="30207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1300" b="1" dirty="0">
                <a:solidFill>
                  <a:srgbClr val="12030B"/>
                </a:solidFill>
              </a:rPr>
              <a:t>Score alapú match</a:t>
            </a:r>
          </a:p>
        </p:txBody>
      </p:sp>
      <p:sp>
        <p:nvSpPr>
          <p:cNvPr id="51" name="Text 9">
            <a:extLst>
              <a:ext uri="{FF2B5EF4-FFF2-40B4-BE49-F238E27FC236}">
                <a16:creationId xmlns:a16="http://schemas.microsoft.com/office/drawing/2014/main" id="{62231735-63A2-BC84-75A7-86B421C85CF3}"/>
              </a:ext>
            </a:extLst>
          </p:cNvPr>
          <p:cNvSpPr/>
          <p:nvPr/>
        </p:nvSpPr>
        <p:spPr>
          <a:xfrm>
            <a:off x="5305553" y="1794510"/>
            <a:ext cx="30207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hu-HU" sz="1100" dirty="0">
                <a:solidFill>
                  <a:srgbClr val="555555"/>
                </a:solidFill>
              </a:rPr>
              <a:t>Soft constraints + súlyozás (kor, nyelv, távolság).</a:t>
            </a:r>
          </a:p>
        </p:txBody>
      </p:sp>
      <p:sp>
        <p:nvSpPr>
          <p:cNvPr id="52" name="Shape 14">
            <a:extLst>
              <a:ext uri="{FF2B5EF4-FFF2-40B4-BE49-F238E27FC236}">
                <a16:creationId xmlns:a16="http://schemas.microsoft.com/office/drawing/2014/main" id="{EB0422CB-C38D-8341-D121-ED35500B23EF}"/>
              </a:ext>
            </a:extLst>
          </p:cNvPr>
          <p:cNvSpPr/>
          <p:nvPr/>
        </p:nvSpPr>
        <p:spPr>
          <a:xfrm>
            <a:off x="567690" y="2983230"/>
            <a:ext cx="343535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53" name="Shape 15">
            <a:extLst>
              <a:ext uri="{FF2B5EF4-FFF2-40B4-BE49-F238E27FC236}">
                <a16:creationId xmlns:a16="http://schemas.microsoft.com/office/drawing/2014/main" id="{7A5C4E2D-7FCE-411E-BAE4-E662446DF68B}"/>
              </a:ext>
            </a:extLst>
          </p:cNvPr>
          <p:cNvSpPr/>
          <p:nvPr/>
        </p:nvSpPr>
        <p:spPr>
          <a:xfrm>
            <a:off x="567690" y="2983230"/>
            <a:ext cx="71076" cy="155448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D4EDCFF7-A16E-E34B-0F33-C8CDF88E80DB}"/>
              </a:ext>
            </a:extLst>
          </p:cNvPr>
          <p:cNvSpPr/>
          <p:nvPr/>
        </p:nvSpPr>
        <p:spPr>
          <a:xfrm>
            <a:off x="732281" y="3074670"/>
            <a:ext cx="30207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1300" b="1" dirty="0">
                <a:solidFill>
                  <a:srgbClr val="12030B"/>
                </a:solidFill>
              </a:rPr>
              <a:t>Atomi párosítás</a:t>
            </a:r>
          </a:p>
        </p:txBody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EFE8106E-6BE6-BC50-1B04-0C334D285CEB}"/>
              </a:ext>
            </a:extLst>
          </p:cNvPr>
          <p:cNvSpPr/>
          <p:nvPr/>
        </p:nvSpPr>
        <p:spPr>
          <a:xfrm>
            <a:off x="732281" y="3577590"/>
            <a:ext cx="30207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hu-HU" sz="1100" dirty="0">
                <a:solidFill>
                  <a:srgbClr val="555555"/>
                </a:solidFill>
              </a:rPr>
              <a:t>Lua script → nincs dupla match / race condition.</a:t>
            </a:r>
          </a:p>
        </p:txBody>
      </p:sp>
      <p:sp>
        <p:nvSpPr>
          <p:cNvPr id="56" name="Shape 18">
            <a:extLst>
              <a:ext uri="{FF2B5EF4-FFF2-40B4-BE49-F238E27FC236}">
                <a16:creationId xmlns:a16="http://schemas.microsoft.com/office/drawing/2014/main" id="{A39FEBCF-D2D2-90C0-0246-39409875BB2A}"/>
              </a:ext>
            </a:extLst>
          </p:cNvPr>
          <p:cNvSpPr/>
          <p:nvPr/>
        </p:nvSpPr>
        <p:spPr>
          <a:xfrm>
            <a:off x="5140962" y="2983230"/>
            <a:ext cx="343535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57" name="Shape 19">
            <a:extLst>
              <a:ext uri="{FF2B5EF4-FFF2-40B4-BE49-F238E27FC236}">
                <a16:creationId xmlns:a16="http://schemas.microsoft.com/office/drawing/2014/main" id="{2EC0DC2D-7948-E403-0CF3-2DE6D9518D13}"/>
              </a:ext>
            </a:extLst>
          </p:cNvPr>
          <p:cNvSpPr/>
          <p:nvPr/>
        </p:nvSpPr>
        <p:spPr>
          <a:xfrm>
            <a:off x="5140962" y="2983230"/>
            <a:ext cx="71076" cy="155448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58" name="Text 20">
            <a:extLst>
              <a:ext uri="{FF2B5EF4-FFF2-40B4-BE49-F238E27FC236}">
                <a16:creationId xmlns:a16="http://schemas.microsoft.com/office/drawing/2014/main" id="{4BE8C3D5-6B46-6844-20F2-61A6D4D75B19}"/>
              </a:ext>
            </a:extLst>
          </p:cNvPr>
          <p:cNvSpPr/>
          <p:nvPr/>
        </p:nvSpPr>
        <p:spPr>
          <a:xfrm>
            <a:off x="5305553" y="3074670"/>
            <a:ext cx="30207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1300" b="1" dirty="0">
                <a:solidFill>
                  <a:srgbClr val="12030B"/>
                </a:solidFill>
              </a:rPr>
              <a:t>Azonnali értesítés</a:t>
            </a:r>
          </a:p>
        </p:txBody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6254A295-676C-ADCD-F2E0-808C7640D3F7}"/>
              </a:ext>
            </a:extLst>
          </p:cNvPr>
          <p:cNvSpPr/>
          <p:nvPr/>
        </p:nvSpPr>
        <p:spPr>
          <a:xfrm>
            <a:off x="5305553" y="3577590"/>
            <a:ext cx="30207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555555"/>
                </a:solidFill>
              </a:rPr>
              <a:t>Redis PUBLISH → WebSocket → start live video.</a:t>
            </a:r>
            <a:endParaRPr lang="hu-HU" sz="1100" dirty="0">
              <a:solidFill>
                <a:srgbClr val="555555"/>
              </a:solidFill>
            </a:endParaRPr>
          </a:p>
        </p:txBody>
      </p:sp>
      <p:pic>
        <p:nvPicPr>
          <p:cNvPr id="60" name="Picture 59" descr="Redis® for Clever Cloud | Clever Cloud">
            <a:extLst>
              <a:ext uri="{FF2B5EF4-FFF2-40B4-BE49-F238E27FC236}">
                <a16:creationId xmlns:a16="http://schemas.microsoft.com/office/drawing/2014/main" id="{DDD9450C-1C0A-A9B7-2132-D04E7A9B7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058" y="2084070"/>
            <a:ext cx="648970" cy="556260"/>
          </a:xfrm>
          <a:prstGeom prst="rect">
            <a:avLst/>
          </a:prstGeom>
        </p:spPr>
      </p:pic>
      <p:pic>
        <p:nvPicPr>
          <p:cNvPr id="2050" name="Picture 2" descr="PostgreSQL - Wikipedia">
            <a:extLst>
              <a:ext uri="{FF2B5EF4-FFF2-40B4-BE49-F238E27FC236}">
                <a16:creationId xmlns:a16="http://schemas.microsoft.com/office/drawing/2014/main" id="{37F38C32-C42D-F3D0-349A-E845B0B58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5222" y="2034540"/>
            <a:ext cx="583772" cy="601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A044E"/>
            </a:gs>
            <a:gs pos="100000">
              <a:srgbClr val="1E1B4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40">
            <a:extLst>
              <a:ext uri="{FF2B5EF4-FFF2-40B4-BE49-F238E27FC236}">
                <a16:creationId xmlns:a16="http://schemas.microsoft.com/office/drawing/2014/main" id="{F3DEAB48-4D2C-4690-62C8-D39F7960461F}"/>
              </a:ext>
            </a:extLst>
          </p:cNvPr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u-HU" sz="1000" noProof="0" dirty="0">
                <a:solidFill>
                  <a:srgbClr val="9E7E8A"/>
                </a:solidFill>
              </a:rPr>
              <a:t>7 / 10</a:t>
            </a:r>
            <a:endParaRPr lang="hu-HU" sz="1000" noProof="0" dirty="0"/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837A95A7-2DF1-0751-CFED-EF6AA2D9E711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638D0E7B-7E60-CB02-A3FA-58C41F1939F6}"/>
              </a:ext>
            </a:extLst>
          </p:cNvPr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30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Perzisztencia</a:t>
            </a:r>
            <a:endParaRPr lang="hu-HU" sz="3000" noProof="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933E3FA7-ACCE-74AF-6053-AB68FEFF165F}"/>
              </a:ext>
            </a:extLst>
          </p:cNvPr>
          <p:cNvSpPr/>
          <p:nvPr/>
        </p:nvSpPr>
        <p:spPr>
          <a:xfrm>
            <a:off x="567690" y="1200150"/>
            <a:ext cx="343535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E8C1CD23-6D65-BBF9-2704-DBCBC7C7D303}"/>
              </a:ext>
            </a:extLst>
          </p:cNvPr>
          <p:cNvSpPr/>
          <p:nvPr/>
        </p:nvSpPr>
        <p:spPr>
          <a:xfrm>
            <a:off x="567690" y="1200150"/>
            <a:ext cx="71076" cy="155448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C2AA5646-55BB-166D-EB35-21DBDBBA5B07}"/>
              </a:ext>
            </a:extLst>
          </p:cNvPr>
          <p:cNvSpPr/>
          <p:nvPr/>
        </p:nvSpPr>
        <p:spPr>
          <a:xfrm>
            <a:off x="732281" y="1291590"/>
            <a:ext cx="30207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1300" b="1" dirty="0">
                <a:solidFill>
                  <a:srgbClr val="12030B"/>
                </a:solidFill>
              </a:rPr>
              <a:t>SQLModel / SQLAlchemy</a:t>
            </a:r>
          </a:p>
          <a:p>
            <a:endParaRPr lang="hu-HU" sz="1300" b="1" dirty="0">
              <a:solidFill>
                <a:srgbClr val="12030B"/>
              </a:solidFill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0D1B49F9-7E2D-470B-7840-B6A8F4592674}"/>
              </a:ext>
            </a:extLst>
          </p:cNvPr>
          <p:cNvSpPr/>
          <p:nvPr/>
        </p:nvSpPr>
        <p:spPr>
          <a:xfrm>
            <a:off x="732281" y="1794510"/>
            <a:ext cx="30207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hu-HU" sz="1100" dirty="0">
                <a:solidFill>
                  <a:srgbClr val="555555"/>
                </a:solidFill>
              </a:rPr>
              <a:t>ORM </a:t>
            </a:r>
            <a:r>
              <a:rPr lang="hu-HU" sz="1100" dirty="0">
                <a:solidFill>
                  <a:srgbClr val="555555"/>
                </a:solidFill>
                <a:sym typeface="Wingdings" panose="05000000000000000000" pitchFamily="2" charset="2"/>
              </a:rPr>
              <a:t> könnyű adatbázist cserélni</a:t>
            </a:r>
            <a:endParaRPr lang="hu-HU" sz="1100" dirty="0">
              <a:solidFill>
                <a:srgbClr val="555555"/>
              </a:solidFill>
            </a:endParaRPr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01848C09-E749-AAE9-9E3B-5B91550ADE9C}"/>
              </a:ext>
            </a:extLst>
          </p:cNvPr>
          <p:cNvSpPr/>
          <p:nvPr/>
        </p:nvSpPr>
        <p:spPr>
          <a:xfrm>
            <a:off x="5140962" y="1200150"/>
            <a:ext cx="343535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AE41168E-0793-94D4-14CB-68D853F2BF43}"/>
              </a:ext>
            </a:extLst>
          </p:cNvPr>
          <p:cNvSpPr/>
          <p:nvPr/>
        </p:nvSpPr>
        <p:spPr>
          <a:xfrm>
            <a:off x="5140962" y="1200150"/>
            <a:ext cx="71076" cy="155448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327680E5-5C1D-52AB-2D5E-4A602CE1E255}"/>
              </a:ext>
            </a:extLst>
          </p:cNvPr>
          <p:cNvSpPr/>
          <p:nvPr/>
        </p:nvSpPr>
        <p:spPr>
          <a:xfrm>
            <a:off x="5305553" y="1291590"/>
            <a:ext cx="30207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1300" b="1" dirty="0">
                <a:solidFill>
                  <a:srgbClr val="12030B"/>
                </a:solidFill>
              </a:rPr>
              <a:t>Modellek</a:t>
            </a: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48E16FA6-E345-886F-B3E2-B6E5A7252C8F}"/>
              </a:ext>
            </a:extLst>
          </p:cNvPr>
          <p:cNvSpPr/>
          <p:nvPr/>
        </p:nvSpPr>
        <p:spPr>
          <a:xfrm>
            <a:off x="5305553" y="1794510"/>
            <a:ext cx="30207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hu-HU" sz="1100" dirty="0">
              <a:solidFill>
                <a:srgbClr val="555555"/>
              </a:solidFill>
            </a:endParaRP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33F41629-A558-03AD-1EF4-1ACEC864B370}"/>
              </a:ext>
            </a:extLst>
          </p:cNvPr>
          <p:cNvSpPr/>
          <p:nvPr/>
        </p:nvSpPr>
        <p:spPr>
          <a:xfrm>
            <a:off x="567690" y="2983230"/>
            <a:ext cx="343535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9EDBD1CD-39D1-4D21-149B-1DF2B15A0B1A}"/>
              </a:ext>
            </a:extLst>
          </p:cNvPr>
          <p:cNvSpPr/>
          <p:nvPr/>
        </p:nvSpPr>
        <p:spPr>
          <a:xfrm>
            <a:off x="567690" y="2983230"/>
            <a:ext cx="71076" cy="155448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CBE6651B-41A2-9FD3-5CFA-12B4D0400258}"/>
              </a:ext>
            </a:extLst>
          </p:cNvPr>
          <p:cNvSpPr/>
          <p:nvPr/>
        </p:nvSpPr>
        <p:spPr>
          <a:xfrm>
            <a:off x="732281" y="3074670"/>
            <a:ext cx="30207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1300" b="1" dirty="0">
                <a:solidFill>
                  <a:srgbClr val="12030B"/>
                </a:solidFill>
              </a:rPr>
              <a:t>Repository minta</a:t>
            </a: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8B4AA11A-C6FE-95F8-8059-86844F0B231E}"/>
              </a:ext>
            </a:extLst>
          </p:cNvPr>
          <p:cNvSpPr/>
          <p:nvPr/>
        </p:nvSpPr>
        <p:spPr>
          <a:xfrm>
            <a:off x="732281" y="3577590"/>
            <a:ext cx="318566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hu-HU" sz="1100" dirty="0">
                <a:solidFill>
                  <a:srgbClr val="555555"/>
                </a:solidFill>
              </a:rPr>
              <a:t>Api amivel lehet az adatbázishoz lekérdezéseket küldeni</a:t>
            </a:r>
          </a:p>
          <a:p>
            <a:endParaRPr lang="hu-HU" sz="1100" dirty="0">
              <a:solidFill>
                <a:srgbClr val="555555"/>
              </a:solidFill>
            </a:endParaRPr>
          </a:p>
          <a:p>
            <a:r>
              <a:rPr lang="hu-HU" sz="1100" dirty="0">
                <a:solidFill>
                  <a:srgbClr val="555555"/>
                </a:solidFill>
              </a:rPr>
              <a:t>Könnyen cserélhető</a:t>
            </a: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75C0AE77-3C4B-B539-B60C-7E4971FA9938}"/>
              </a:ext>
            </a:extLst>
          </p:cNvPr>
          <p:cNvSpPr/>
          <p:nvPr/>
        </p:nvSpPr>
        <p:spPr>
          <a:xfrm>
            <a:off x="5140962" y="2983230"/>
            <a:ext cx="343535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F9DA13B4-4974-E39B-64F1-3818FAC49FAF}"/>
              </a:ext>
            </a:extLst>
          </p:cNvPr>
          <p:cNvSpPr/>
          <p:nvPr/>
        </p:nvSpPr>
        <p:spPr>
          <a:xfrm>
            <a:off x="5140962" y="2983230"/>
            <a:ext cx="71076" cy="155448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6A179F29-F6B6-3DD1-1CCD-E721CB9085B0}"/>
              </a:ext>
            </a:extLst>
          </p:cNvPr>
          <p:cNvSpPr/>
          <p:nvPr/>
        </p:nvSpPr>
        <p:spPr>
          <a:xfrm>
            <a:off x="5305553" y="3074670"/>
            <a:ext cx="30207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1300" b="1" dirty="0">
                <a:solidFill>
                  <a:srgbClr val="12030B"/>
                </a:solidFill>
              </a:rPr>
              <a:t>BaseRepo: absztrakció</a:t>
            </a: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347277EB-CDAE-8339-DD22-0C0E2287B677}"/>
              </a:ext>
            </a:extLst>
          </p:cNvPr>
          <p:cNvSpPr/>
          <p:nvPr/>
        </p:nvSpPr>
        <p:spPr>
          <a:xfrm>
            <a:off x="5305553" y="3577590"/>
            <a:ext cx="30207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hu-HU" sz="1100" dirty="0">
                <a:solidFill>
                  <a:srgbClr val="555555"/>
                </a:solidFill>
              </a:rPr>
              <a:t>Közös generikus metódusok pl: getById()  </a:t>
            </a:r>
          </a:p>
        </p:txBody>
      </p:sp>
      <p:pic>
        <p:nvPicPr>
          <p:cNvPr id="27" name="Picture 2" descr="PostgreSQL - Wikipedia">
            <a:extLst>
              <a:ext uri="{FF2B5EF4-FFF2-40B4-BE49-F238E27FC236}">
                <a16:creationId xmlns:a16="http://schemas.microsoft.com/office/drawing/2014/main" id="{2052A4D5-51F3-B14B-F571-B6B3D1E61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2372" y="2057400"/>
            <a:ext cx="583772" cy="601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AD2CC2D5-09BF-80E5-413A-BF1AB8A25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281" y="2057400"/>
            <a:ext cx="1271510" cy="601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 21">
            <a:extLst>
              <a:ext uri="{FF2B5EF4-FFF2-40B4-BE49-F238E27FC236}">
                <a16:creationId xmlns:a16="http://schemas.microsoft.com/office/drawing/2014/main" id="{919F604F-6133-1BF0-5540-9DFA50E19AD9}"/>
              </a:ext>
            </a:extLst>
          </p:cNvPr>
          <p:cNvSpPr/>
          <p:nvPr/>
        </p:nvSpPr>
        <p:spPr>
          <a:xfrm>
            <a:off x="5348267" y="1748790"/>
            <a:ext cx="30207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hu-HU" sz="1100" dirty="0">
                <a:solidFill>
                  <a:srgbClr val="555555"/>
                </a:solidFill>
              </a:rPr>
              <a:t>Backend modell = adatbázis tába</a:t>
            </a:r>
          </a:p>
        </p:txBody>
      </p:sp>
    </p:spTree>
    <p:extLst>
      <p:ext uri="{BB962C8B-B14F-4D97-AF65-F5344CB8AC3E}">
        <p14:creationId xmlns:p14="http://schemas.microsoft.com/office/powerpoint/2010/main" val="3029106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 rotWithShape="1">
          <a:gsLst>
            <a:gs pos="0">
              <a:srgbClr val="4A044E"/>
            </a:gs>
            <a:gs pos="100000">
              <a:srgbClr val="1E1B4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4572000" cy="4572000"/>
          </a:xfrm>
          <a:prstGeom prst="ellipse">
            <a:avLst/>
          </a:prstGeom>
          <a:solidFill>
            <a:srgbClr val="E91E63">
              <a:alpha val="8000"/>
            </a:srgbClr>
          </a:solidFill>
          <a:ln w="12700">
            <a:solidFill>
              <a:srgbClr val="E91E63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3" name="Shape 1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00897B">
              <a:alpha val="8000"/>
            </a:srgbClr>
          </a:solidFill>
          <a:ln w="12700">
            <a:solidFill>
              <a:srgbClr val="00897B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5" name="Text 2"/>
          <p:cNvSpPr/>
          <p:nvPr/>
        </p:nvSpPr>
        <p:spPr>
          <a:xfrm>
            <a:off x="457200" y="2686698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u-HU" sz="6400" b="1" kern="0" spc="1000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hu-HU" sz="6400" noProof="0" dirty="0"/>
          </a:p>
        </p:txBody>
      </p:sp>
      <p:sp>
        <p:nvSpPr>
          <p:cNvPr id="7" name="Shape 4"/>
          <p:cNvSpPr/>
          <p:nvPr/>
        </p:nvSpPr>
        <p:spPr>
          <a:xfrm>
            <a:off x="731520" y="416052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C2185B">
              <a:alpha val="50000"/>
            </a:srgbClr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8" name="Text 5"/>
          <p:cNvSpPr/>
          <p:nvPr/>
        </p:nvSpPr>
        <p:spPr>
          <a:xfrm>
            <a:off x="731520" y="4160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000" b="1" noProof="0" dirty="0">
                <a:solidFill>
                  <a:srgbClr val="FFFFFF"/>
                </a:solidFill>
              </a:rPr>
              <a:t>Regisztráció</a:t>
            </a:r>
            <a:endParaRPr lang="hu-HU" sz="1000" noProof="0" dirty="0"/>
          </a:p>
        </p:txBody>
      </p:sp>
      <p:sp>
        <p:nvSpPr>
          <p:cNvPr id="9" name="Shape 6"/>
          <p:cNvSpPr/>
          <p:nvPr/>
        </p:nvSpPr>
        <p:spPr>
          <a:xfrm>
            <a:off x="2286000" y="416052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C2185B">
              <a:alpha val="50000"/>
            </a:srgbClr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10" name="Text 7"/>
          <p:cNvSpPr/>
          <p:nvPr/>
        </p:nvSpPr>
        <p:spPr>
          <a:xfrm>
            <a:off x="2286000" y="4160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000" b="1" noProof="0" dirty="0">
                <a:solidFill>
                  <a:srgbClr val="FFFFFF"/>
                </a:solidFill>
              </a:rPr>
              <a:t>Profil szerkesztés</a:t>
            </a:r>
            <a:endParaRPr lang="hu-HU" sz="1000" noProof="0" dirty="0"/>
          </a:p>
        </p:txBody>
      </p:sp>
      <p:sp>
        <p:nvSpPr>
          <p:cNvPr id="11" name="Shape 8"/>
          <p:cNvSpPr/>
          <p:nvPr/>
        </p:nvSpPr>
        <p:spPr>
          <a:xfrm>
            <a:off x="3840480" y="416052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C2185B">
              <a:alpha val="50000"/>
            </a:srgbClr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12" name="Text 9"/>
          <p:cNvSpPr/>
          <p:nvPr/>
        </p:nvSpPr>
        <p:spPr>
          <a:xfrm>
            <a:off x="3840480" y="4160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000" b="1" noProof="0" dirty="0">
                <a:solidFill>
                  <a:srgbClr val="FFFFFF"/>
                </a:solidFill>
              </a:rPr>
              <a:t>Videó feltöltés</a:t>
            </a:r>
            <a:endParaRPr lang="hu-HU" sz="1000" noProof="0" dirty="0"/>
          </a:p>
        </p:txBody>
      </p:sp>
      <p:sp>
        <p:nvSpPr>
          <p:cNvPr id="13" name="Shape 10"/>
          <p:cNvSpPr/>
          <p:nvPr/>
        </p:nvSpPr>
        <p:spPr>
          <a:xfrm>
            <a:off x="5394960" y="416052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C2185B">
              <a:alpha val="50000"/>
            </a:srgbClr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14" name="Text 11"/>
          <p:cNvSpPr/>
          <p:nvPr/>
        </p:nvSpPr>
        <p:spPr>
          <a:xfrm>
            <a:off x="5394960" y="4160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000" b="1" noProof="0" dirty="0">
                <a:solidFill>
                  <a:srgbClr val="FFFFFF"/>
                </a:solidFill>
              </a:rPr>
              <a:t>Párosítás</a:t>
            </a:r>
            <a:endParaRPr lang="hu-HU" sz="1000" noProof="0" dirty="0"/>
          </a:p>
        </p:txBody>
      </p:sp>
      <p:sp>
        <p:nvSpPr>
          <p:cNvPr id="15" name="Shape 12"/>
          <p:cNvSpPr/>
          <p:nvPr/>
        </p:nvSpPr>
        <p:spPr>
          <a:xfrm>
            <a:off x="6949440" y="416052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C2185B">
              <a:alpha val="50000"/>
            </a:srgbClr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16" name="Text 13"/>
          <p:cNvSpPr/>
          <p:nvPr/>
        </p:nvSpPr>
        <p:spPr>
          <a:xfrm>
            <a:off x="6949440" y="4160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000" b="1" noProof="0" dirty="0">
                <a:solidFill>
                  <a:srgbClr val="FFFFFF"/>
                </a:solidFill>
              </a:rPr>
              <a:t>Chat</a:t>
            </a:r>
            <a:endParaRPr lang="hu-HU" sz="1000" noProof="0" dirty="0"/>
          </a:p>
        </p:txBody>
      </p:sp>
      <p:sp>
        <p:nvSpPr>
          <p:cNvPr id="17" name="Text 14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u-HU" sz="1000" noProof="0" dirty="0">
                <a:solidFill>
                  <a:srgbClr val="9E7E8A"/>
                </a:solidFill>
              </a:rPr>
              <a:t>8 / 10</a:t>
            </a:r>
            <a:endParaRPr lang="hu-HU" sz="1000" noProof="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D691D4E-7370-7360-334A-A3BF8E3F69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192" b="33191"/>
          <a:stretch>
            <a:fillRect/>
          </a:stretch>
        </p:blipFill>
        <p:spPr>
          <a:xfrm>
            <a:off x="1765935" y="684126"/>
            <a:ext cx="5337810" cy="19545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 rotWithShape="1">
          <a:gsLst>
            <a:gs pos="0">
              <a:srgbClr val="4A044E"/>
            </a:gs>
            <a:gs pos="100000">
              <a:srgbClr val="1E1B4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30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Összegzés</a:t>
            </a:r>
            <a:endParaRPr lang="hu-HU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500" b="1" noProof="0" dirty="0">
                <a:solidFill>
                  <a:srgbClr val="C2185B"/>
                </a:solidFill>
              </a:rPr>
              <a:t>Kihívások</a:t>
            </a:r>
            <a:endParaRPr lang="hu-HU" sz="1500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228600" cy="2286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200" noProof="0" dirty="0">
                <a:solidFill>
                  <a:schemeClr val="bg1"/>
                </a:solidFill>
              </a:rPr>
              <a:t>Matchmakeing</a:t>
            </a:r>
          </a:p>
        </p:txBody>
      </p:sp>
      <p:sp>
        <p:nvSpPr>
          <p:cNvPr id="7" name="Shape 5"/>
          <p:cNvSpPr/>
          <p:nvPr/>
        </p:nvSpPr>
        <p:spPr>
          <a:xfrm>
            <a:off x="365760" y="2212848"/>
            <a:ext cx="228600" cy="2286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200" noProof="0" dirty="0">
                <a:solidFill>
                  <a:schemeClr val="bg1"/>
                </a:solidFill>
              </a:rPr>
              <a:t>WebRTC</a:t>
            </a:r>
          </a:p>
        </p:txBody>
      </p:sp>
      <p:sp>
        <p:nvSpPr>
          <p:cNvPr id="9" name="Shape 7"/>
          <p:cNvSpPr/>
          <p:nvPr/>
        </p:nvSpPr>
        <p:spPr>
          <a:xfrm>
            <a:off x="365760" y="2852928"/>
            <a:ext cx="228600" cy="2286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10" name="Text 8"/>
          <p:cNvSpPr/>
          <p:nvPr/>
        </p:nvSpPr>
        <p:spPr>
          <a:xfrm>
            <a:off x="685800" y="2743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200" noProof="0" dirty="0">
                <a:solidFill>
                  <a:schemeClr val="bg1"/>
                </a:solidFill>
              </a:rPr>
              <a:t>Websocket auth</a:t>
            </a:r>
          </a:p>
        </p:txBody>
      </p:sp>
      <p:sp>
        <p:nvSpPr>
          <p:cNvPr id="11" name="Shape 9"/>
          <p:cNvSpPr/>
          <p:nvPr/>
        </p:nvSpPr>
        <p:spPr>
          <a:xfrm>
            <a:off x="365760" y="3493008"/>
            <a:ext cx="228600" cy="2286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12" name="Text 10"/>
          <p:cNvSpPr/>
          <p:nvPr/>
        </p:nvSpPr>
        <p:spPr>
          <a:xfrm>
            <a:off x="685800" y="33832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200" noProof="0" dirty="0">
                <a:solidFill>
                  <a:schemeClr val="bg1"/>
                </a:solidFill>
              </a:rPr>
              <a:t>Adatbázis séma megtervezése</a:t>
            </a:r>
          </a:p>
        </p:txBody>
      </p:sp>
      <p:sp>
        <p:nvSpPr>
          <p:cNvPr id="13" name="Shape 11"/>
          <p:cNvSpPr/>
          <p:nvPr/>
        </p:nvSpPr>
        <p:spPr>
          <a:xfrm>
            <a:off x="365760" y="4133088"/>
            <a:ext cx="228600" cy="2286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14" name="Text 12"/>
          <p:cNvSpPr/>
          <p:nvPr/>
        </p:nvSpPr>
        <p:spPr>
          <a:xfrm>
            <a:off x="685800" y="4023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200" noProof="0" dirty="0">
                <a:solidFill>
                  <a:schemeClr val="bg1"/>
                </a:solidFill>
              </a:rPr>
              <a:t>Responsive UX/UI kialakítása</a:t>
            </a:r>
          </a:p>
        </p:txBody>
      </p:sp>
      <p:sp>
        <p:nvSpPr>
          <p:cNvPr id="15" name="Text 13"/>
          <p:cNvSpPr/>
          <p:nvPr/>
        </p:nvSpPr>
        <p:spPr>
          <a:xfrm>
            <a:off x="484632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500" b="1" noProof="0" dirty="0">
                <a:solidFill>
                  <a:srgbClr val="00897B"/>
                </a:solidFill>
              </a:rPr>
              <a:t>Továbbfejlesztési lehetőségek</a:t>
            </a:r>
            <a:endParaRPr lang="hu-HU" sz="1500" noProof="0" dirty="0"/>
          </a:p>
        </p:txBody>
      </p:sp>
      <p:sp>
        <p:nvSpPr>
          <p:cNvPr id="16" name="Shape 14"/>
          <p:cNvSpPr/>
          <p:nvPr/>
        </p:nvSpPr>
        <p:spPr>
          <a:xfrm>
            <a:off x="4846320" y="1572768"/>
            <a:ext cx="228600" cy="2286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17" name="Text 15"/>
          <p:cNvSpPr/>
          <p:nvPr/>
        </p:nvSpPr>
        <p:spPr>
          <a:xfrm>
            <a:off x="5166360" y="14630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200" dirty="0">
                <a:solidFill>
                  <a:schemeClr val="bg1"/>
                </a:solidFill>
              </a:rPr>
              <a:t>AI moderáció</a:t>
            </a:r>
            <a:endParaRPr lang="hu-HU" sz="1200" noProof="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46320" y="2212848"/>
            <a:ext cx="228600" cy="2286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19" name="Text 17"/>
          <p:cNvSpPr/>
          <p:nvPr/>
        </p:nvSpPr>
        <p:spPr>
          <a:xfrm>
            <a:off x="5166360" y="21031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hu-HU" sz="1200" noProof="0" dirty="0"/>
          </a:p>
        </p:txBody>
      </p:sp>
      <p:sp>
        <p:nvSpPr>
          <p:cNvPr id="20" name="Shape 18"/>
          <p:cNvSpPr/>
          <p:nvPr/>
        </p:nvSpPr>
        <p:spPr>
          <a:xfrm>
            <a:off x="4846320" y="2852928"/>
            <a:ext cx="228600" cy="2286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21" name="Text 19"/>
          <p:cNvSpPr/>
          <p:nvPr/>
        </p:nvSpPr>
        <p:spPr>
          <a:xfrm>
            <a:off x="5166360" y="27432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200" noProof="0" dirty="0">
                <a:solidFill>
                  <a:schemeClr val="bg1"/>
                </a:solidFill>
              </a:rPr>
              <a:t>Push </a:t>
            </a:r>
            <a:r>
              <a:rPr lang="hu-HU" sz="1200" dirty="0">
                <a:solidFill>
                  <a:schemeClr val="bg1"/>
                </a:solidFill>
              </a:rPr>
              <a:t>notification</a:t>
            </a:r>
            <a:endParaRPr lang="hu-HU" sz="1200" noProof="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166360" y="347014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hu-HU" sz="1200" noProof="0" dirty="0"/>
          </a:p>
        </p:txBody>
      </p:sp>
      <p:sp>
        <p:nvSpPr>
          <p:cNvPr id="24" name="Shape 22"/>
          <p:cNvSpPr/>
          <p:nvPr/>
        </p:nvSpPr>
        <p:spPr>
          <a:xfrm>
            <a:off x="4846320" y="3493361"/>
            <a:ext cx="228600" cy="2286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25" name="Text 23"/>
          <p:cNvSpPr/>
          <p:nvPr/>
        </p:nvSpPr>
        <p:spPr>
          <a:xfrm>
            <a:off x="5166360" y="3383633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200" dirty="0">
                <a:solidFill>
                  <a:schemeClr val="bg1"/>
                </a:solidFill>
              </a:rPr>
              <a:t>PWA (Progressive Web App)</a:t>
            </a:r>
            <a:endParaRPr lang="hu-HU" sz="1200" noProof="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389120" y="1005840"/>
            <a:ext cx="0" cy="3749040"/>
          </a:xfrm>
          <a:prstGeom prst="line">
            <a:avLst/>
          </a:prstGeom>
          <a:noFill/>
          <a:ln w="12700">
            <a:solidFill>
              <a:srgbClr val="D0C0C8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27" name="Text 25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u-HU" sz="1000" noProof="0" dirty="0">
                <a:solidFill>
                  <a:srgbClr val="9E7E8A"/>
                </a:solidFill>
              </a:rPr>
              <a:t>9 / 10</a:t>
            </a:r>
            <a:endParaRPr lang="hu-HU" sz="1000" noProof="0" dirty="0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82625A1F-7B62-0DA6-1B6F-2093D1A5CE26}"/>
              </a:ext>
            </a:extLst>
          </p:cNvPr>
          <p:cNvSpPr/>
          <p:nvPr/>
        </p:nvSpPr>
        <p:spPr>
          <a:xfrm>
            <a:off x="5166360" y="21031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200" dirty="0">
                <a:solidFill>
                  <a:schemeClr val="bg1"/>
                </a:solidFill>
              </a:rPr>
              <a:t>KYC (Know Your Costumer)</a:t>
            </a:r>
            <a:endParaRPr lang="hu-HU" sz="1200" noProof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 rotWithShape="1">
          <a:gsLst>
            <a:gs pos="0">
              <a:srgbClr val="4A044E"/>
            </a:gs>
            <a:gs pos="100000">
              <a:srgbClr val="1E1B4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914400"/>
            <a:ext cx="5486400" cy="5486400"/>
          </a:xfrm>
          <a:prstGeom prst="ellipse">
            <a:avLst/>
          </a:prstGeom>
          <a:solidFill>
            <a:srgbClr val="C2185B">
              <a:alpha val="10000"/>
            </a:srgbClr>
          </a:solidFill>
          <a:ln w="12700">
            <a:solidFill>
              <a:srgbClr val="C2185B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3" name="Shape 1"/>
          <p:cNvSpPr/>
          <p:nvPr/>
        </p:nvSpPr>
        <p:spPr>
          <a:xfrm>
            <a:off x="-1371600" y="1828800"/>
            <a:ext cx="3657600" cy="3657600"/>
          </a:xfrm>
          <a:prstGeom prst="ellipse">
            <a:avLst/>
          </a:prstGeom>
          <a:solidFill>
            <a:srgbClr val="E91E63">
              <a:alpha val="7000"/>
            </a:srgbClr>
          </a:solidFill>
          <a:ln w="12700">
            <a:solidFill>
              <a:srgbClr val="E91E63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u-HU" sz="40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Köszönöm a figyelmet!</a:t>
            </a:r>
            <a:endParaRPr lang="hu-HU" sz="4000" noProof="0" dirty="0"/>
          </a:p>
        </p:txBody>
      </p:sp>
      <p:sp>
        <p:nvSpPr>
          <p:cNvPr id="6" name="Text 3"/>
          <p:cNvSpPr/>
          <p:nvPr/>
        </p:nvSpPr>
        <p:spPr>
          <a:xfrm>
            <a:off x="914400" y="2834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u-HU" sz="1600" i="1" noProof="0" dirty="0">
                <a:solidFill>
                  <a:srgbClr val="FF80AB"/>
                </a:solidFill>
              </a:rPr>
              <a:t>Vidate – Videó-alapú Társkereső Alkalmazás</a:t>
            </a:r>
            <a:endParaRPr lang="hu-HU" sz="1600" noProof="0" dirty="0"/>
          </a:p>
        </p:txBody>
      </p:sp>
      <p:sp>
        <p:nvSpPr>
          <p:cNvPr id="7" name="Shape 4"/>
          <p:cNvSpPr/>
          <p:nvPr/>
        </p:nvSpPr>
        <p:spPr>
          <a:xfrm>
            <a:off x="2743200" y="3337560"/>
            <a:ext cx="3657600" cy="36576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8" name="Text 5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u-HU" sz="2200" b="1" noProof="0" dirty="0">
                <a:solidFill>
                  <a:srgbClr val="F3D6E4"/>
                </a:solidFill>
              </a:rPr>
              <a:t>Kérdések?</a:t>
            </a:r>
            <a:endParaRPr lang="hu-HU" sz="2200" noProof="0" dirty="0"/>
          </a:p>
        </p:txBody>
      </p:sp>
      <p:sp>
        <p:nvSpPr>
          <p:cNvPr id="10" name="Text 7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u-HU" sz="1000" noProof="0" dirty="0">
                <a:solidFill>
                  <a:srgbClr val="9E7E8A"/>
                </a:solidFill>
              </a:rPr>
              <a:t>10 / 10</a:t>
            </a:r>
            <a:endParaRPr lang="hu-HU" sz="10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423</Words>
  <Application>Microsoft Office PowerPoint</Application>
  <PresentationFormat>On-screen Show (16:9)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Georgia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Vidate – Videó-alapú Társkereső Alkalmazás</dc:title>
  <dc:subject>PptxGenJS Presentation</dc:subject>
  <dc:creator>PptxGenJS</dc:creator>
  <cp:lastModifiedBy>Szabó Bernát</cp:lastModifiedBy>
  <cp:revision>6</cp:revision>
  <dcterms:created xsi:type="dcterms:W3CDTF">2026-04-13T18:35:33Z</dcterms:created>
  <dcterms:modified xsi:type="dcterms:W3CDTF">2026-04-16T22:28:06Z</dcterms:modified>
</cp:coreProperties>
</file>