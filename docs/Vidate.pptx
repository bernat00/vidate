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E91E63">
              <a:alpha val="12000"/>
            </a:srgbClr>
          </a:solidFill>
          <a:ln w="12700">
            <a:solidFill>
              <a:srgbClr val="E91E6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82880"/>
            <a:ext cx="1371600" cy="1371600"/>
          </a:xfrm>
          <a:prstGeom prst="ellipse">
            <a:avLst/>
          </a:prstGeom>
          <a:solidFill>
            <a:srgbClr val="FF80AB">
              <a:alpha val="20000"/>
            </a:srgbClr>
          </a:solidFill>
          <a:ln w="12700">
            <a:solidFill>
              <a:srgbClr val="FF80AB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5943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Vidate</a:t>
            </a:r>
            <a:endParaRPr lang="en-US" sz="7200" dirty="0"/>
          </a:p>
        </p:txBody>
      </p:sp>
      <p:sp>
        <p:nvSpPr>
          <p:cNvPr id="8" name="Text 4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Videó-alapú Társkereső Alkalmazás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Készítette: Bernat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Érettségi / Záróvizsga Projekt  •  2026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988820" y="4023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2185B">
              <a:alpha val="4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98882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14700" y="4023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2185B">
              <a:alpha val="4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1470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40580" y="4023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2185B">
              <a:alpha val="4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4058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66460" y="40233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2185B">
              <a:alpha val="4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6646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Bevezetés &amp; Motiváció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5156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54864" cy="347472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1143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030B"/>
                </a:solidFill>
              </a:rPr>
              <a:t>A probléma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Hagyományos társkereső oldalak statikus profilokra támaszkodnak – a valódi személyiség nem látszik át szövegen és képeken keresztül.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51560"/>
            <a:ext cx="54864" cy="347472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64992" y="1143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030B"/>
                </a:solidFill>
              </a:rPr>
              <a:t>Az ötlet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64992" y="16002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 Vidate rövid bemutatkozó videók segítségével tárja fel a felhasználók valódi énjét, még az első találkozó előtt.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051560"/>
            <a:ext cx="26060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1051560"/>
            <a:ext cx="54864" cy="3474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9632" y="1143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030B"/>
                </a:solidFill>
              </a:rPr>
              <a:t>A cél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99632" y="16002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Mélyebb, autentikusabb kapcsolatok létrehozása modern, video-first felület és okos párosítási logika segítségével.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Munkafolyamat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554480" cy="2926080"/>
          </a:xfrm>
          <a:prstGeom prst="rect">
            <a:avLst/>
          </a:prstGeom>
          <a:solidFill>
            <a:srgbClr val="1A0A14"/>
          </a:solidFill>
          <a:ln w="12700">
            <a:solidFill>
              <a:srgbClr val="3D1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0AB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Tervezés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D6E4"/>
                </a:solidFill>
              </a:rPr>
              <a:t>Követelmények, wireframe-ek, UML és ER diagramok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2331720"/>
            <a:ext cx="109728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1005840"/>
            <a:ext cx="1554480" cy="2926080"/>
          </a:xfrm>
          <a:prstGeom prst="rect">
            <a:avLst/>
          </a:prstGeom>
          <a:solidFill>
            <a:srgbClr val="1A0A14"/>
          </a:solidFill>
          <a:ln w="12700">
            <a:solidFill>
              <a:srgbClr val="3D1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7452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0AB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7452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2402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D6E4"/>
                </a:solidFill>
              </a:rPr>
              <a:t>React + TypeScript, komponensek, routing, UI/UX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2331720"/>
            <a:ext cx="109728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005840"/>
            <a:ext cx="1554480" cy="2926080"/>
          </a:xfrm>
          <a:prstGeom prst="rect">
            <a:avLst/>
          </a:prstGeom>
          <a:solidFill>
            <a:srgbClr val="C2185B"/>
          </a:solidFill>
          <a:ln w="12700">
            <a:solidFill>
              <a:srgbClr val="E91E6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044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2402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EF6"/>
                </a:solidFill>
              </a:rPr>
              <a:t>Python FastAPI végpontok, adatbázis, videókezelés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2331720"/>
            <a:ext cx="109728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005840"/>
            <a:ext cx="1554480" cy="2926080"/>
          </a:xfrm>
          <a:prstGeom prst="rect">
            <a:avLst/>
          </a:prstGeom>
          <a:solidFill>
            <a:srgbClr val="1A0A14"/>
          </a:solidFill>
          <a:ln w="12700">
            <a:solidFill>
              <a:srgbClr val="3D1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0AB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6636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Integráció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22402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D6E4"/>
                </a:solidFill>
              </a:rPr>
              <a:t>Frontend–backend összekapcsolás, tesztelés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331720"/>
            <a:ext cx="109728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005840"/>
            <a:ext cx="1554480" cy="2926080"/>
          </a:xfrm>
          <a:prstGeom prst="rect">
            <a:avLst/>
          </a:prstGeom>
          <a:solidFill>
            <a:srgbClr val="1A0A14"/>
          </a:solidFill>
          <a:ln w="12700">
            <a:solidFill>
              <a:srgbClr val="3D1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0AB"/>
                </a:solidFill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12280" y="1737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Finomítás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22402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D6E4"/>
                </a:solidFill>
              </a:rPr>
              <a:t>Hibakeresés, dokumentáció, demó előkészítés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2185B">
              <a:alpha val="8000"/>
            </a:srgbClr>
          </a:solidFill>
          <a:ln w="12700">
            <a:solidFill>
              <a:srgbClr val="C2185B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Technológiai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2D0F1E"/>
          </a:solidFill>
          <a:ln w="6350">
            <a:solidFill>
              <a:srgbClr val="3D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972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0972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6E4"/>
                </a:solidFill>
              </a:rPr>
              <a:t>React 18  ·  TypeScript  ·  Vite  ·  TailwindCSS  ·  React Router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2D0F1E"/>
          </a:solidFill>
          <a:ln w="6350">
            <a:solidFill>
              <a:srgbClr val="3D1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574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0574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6E4"/>
                </a:solidFill>
              </a:rPr>
              <a:t>Python 3.11  ·  FastAPI  ·  SQLAlchemy  ·  Uvicorn  ·  Pydantic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2D0F1E"/>
          </a:solidFill>
          <a:ln w="6350">
            <a:solidFill>
              <a:srgbClr val="3D1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17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Adatbázis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30175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6E4"/>
                </a:solidFill>
              </a:rPr>
              <a:t>PostgreSQL  ·  Alembic (migrációk)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2D0F1E"/>
          </a:solidFill>
          <a:ln w="6350">
            <a:solidFill>
              <a:srgbClr val="3D1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FF80AB"/>
          </a:solidFill>
          <a:ln w="12700">
            <a:solidFill>
              <a:srgbClr val="FF80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0AB"/>
                </a:solidFill>
              </a:rPr>
              <a:t>Egyéb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39776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D6E4"/>
                </a:solidFill>
              </a:rPr>
              <a:t>JWT Auth  ·  WebRTC / Videó  ·  Docker  ·  GitHub Actions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Rendszer Architektúra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914400"/>
          </a:xfrm>
          <a:prstGeom prst="rect">
            <a:avLst/>
          </a:prstGeom>
          <a:solidFill>
            <a:srgbClr val="E91E63">
              <a:alpha val="85000"/>
            </a:srgbClr>
          </a:solidFill>
          <a:ln w="19050">
            <a:solidFill>
              <a:srgbClr val="E91E6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Böngésző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(React SPA)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188720"/>
            <a:ext cx="2011680" cy="914400"/>
          </a:xfrm>
          <a:prstGeom prst="rect">
            <a:avLst/>
          </a:prstGeom>
          <a:solidFill>
            <a:srgbClr val="00897B">
              <a:alpha val="85000"/>
            </a:srgbClr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188720"/>
            <a:ext cx="2011680" cy="914400"/>
          </a:xfrm>
          <a:prstGeom prst="rect">
            <a:avLst/>
          </a:prstGeom>
          <a:solidFill>
            <a:srgbClr val="F9A825">
              <a:alpha val="85000"/>
            </a:srgbClr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Adatbázis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2011680" cy="822960"/>
          </a:xfrm>
          <a:prstGeom prst="rect">
            <a:avLst/>
          </a:prstGeom>
          <a:solidFill>
            <a:srgbClr val="C2185B">
              <a:alpha val="85000"/>
            </a:srgbClr>
          </a:solidFill>
          <a:ln w="19050">
            <a:solidFill>
              <a:srgbClr val="C2185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Videó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Feltöltés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926080"/>
            <a:ext cx="2011680" cy="822960"/>
          </a:xfrm>
          <a:prstGeom prst="rect">
            <a:avLst/>
          </a:prstGeom>
          <a:solidFill>
            <a:srgbClr val="C2185B">
              <a:alpha val="85000"/>
            </a:srgbClr>
          </a:solidFill>
          <a:ln w="19050">
            <a:solidFill>
              <a:srgbClr val="C2185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JWT Auth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Middleware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2011680" cy="822960"/>
          </a:xfrm>
          <a:prstGeom prst="rect">
            <a:avLst/>
          </a:prstGeom>
          <a:solidFill>
            <a:srgbClr val="9E7E8A">
              <a:alpha val="85000"/>
            </a:srgbClr>
          </a:solidFill>
          <a:ln w="19050">
            <a:solidFill>
              <a:srgbClr val="9E7E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File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030B"/>
                </a:solidFill>
              </a:rPr>
              <a:t>(Videók)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1600200"/>
            <a:ext cx="1280160" cy="0"/>
          </a:xfrm>
          <a:prstGeom prst="line">
            <a:avLst/>
          </a:prstGeom>
          <a:noFill/>
          <a:ln w="25400">
            <a:solidFill>
              <a:srgbClr val="E91E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600200"/>
            <a:ext cx="128016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3337560"/>
            <a:ext cx="1280160" cy="0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3337560"/>
            <a:ext cx="1280160" cy="0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E8A"/>
                </a:solidFill>
              </a:rPr>
              <a:t>REST 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E8A"/>
                </a:solidFill>
              </a:rPr>
              <a:t>SQL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Funkciók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43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030B"/>
                </a:solidFill>
              </a:rPr>
              <a:t>Regisztráció &amp; Bejelentkezés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JWT token alapú hitelesítés, védett útvonalak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143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030B"/>
                </a:solidFill>
              </a:rPr>
              <a:t>Profil szerkesztő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Felhasználói adatok, videó feltöltés, beállítások kezelése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5156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143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030B"/>
                </a:solidFill>
              </a:rPr>
              <a:t>Videó feed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5352" y="1645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Bemutatkozó videók böngészése, like/pass interakció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030B"/>
                </a:solidFill>
              </a:rPr>
              <a:t>Match rendszer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Kölcsönös like esetén match értesítés és chat megnyitás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030B"/>
                </a:solidFill>
              </a:rPr>
              <a:t>Valósidejű chat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WebSocket alapú üzenetküldés egyeztetett pároknak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834640"/>
            <a:ext cx="54864" cy="15544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030B"/>
                </a:solidFill>
              </a:rPr>
              <a:t>Reszponzív UI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5352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TailwindCSS alapú, mobilon is működő felhasználói felület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Funkciók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</a:rPr>
              <a:t>Funkcionális követelmények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</a:rPr>
              <a:t>Nem-funkcionális követelmények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931920" cy="457200"/>
          </a:xfrm>
          <a:prstGeom prst="rect">
            <a:avLst/>
          </a:prstGeom>
          <a:solidFill>
            <a:srgbClr val="F0FAF8"/>
          </a:solidFill>
          <a:ln w="6350">
            <a:solidFill>
              <a:srgbClr val="D0ED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457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REST API végpontok (FastAPI)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931920" cy="457200"/>
          </a:xfrm>
          <a:prstGeom prst="rect">
            <a:avLst/>
          </a:prstGeom>
          <a:solidFill>
            <a:srgbClr val="FFF0F5"/>
          </a:solidFill>
          <a:ln w="6350">
            <a:solidFill>
              <a:srgbClr val="F0D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4572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JWT alapú biztonságos autentikáció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393192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0E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11680"/>
            <a:ext cx="457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Felhasználó CRUD műveletek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393192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F0D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011680"/>
            <a:ext cx="4572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Adatbázis migrációk (Alembic)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3931920" cy="457200"/>
          </a:xfrm>
          <a:prstGeom prst="rect">
            <a:avLst/>
          </a:prstGeom>
          <a:solidFill>
            <a:srgbClr val="F0FAF8"/>
          </a:solidFill>
          <a:ln w="6350">
            <a:solidFill>
              <a:srgbClr val="D0ED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457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Videó feltöltés &amp; tárolás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3931920" cy="457200"/>
          </a:xfrm>
          <a:prstGeom prst="rect">
            <a:avLst/>
          </a:prstGeom>
          <a:solidFill>
            <a:srgbClr val="FFF0F5"/>
          </a:solidFill>
          <a:ln w="6350">
            <a:solidFill>
              <a:srgbClr val="F0D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4572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Validáció (Pydantic sémák)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393192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0ED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08960"/>
            <a:ext cx="457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Párosítási algoritmus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108960"/>
            <a:ext cx="393192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F0D0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108960"/>
            <a:ext cx="4572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Hibakezelés &amp; logging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3931920" cy="457200"/>
          </a:xfrm>
          <a:prstGeom prst="rect">
            <a:avLst/>
          </a:prstGeom>
          <a:solidFill>
            <a:srgbClr val="F0FAF8"/>
          </a:solidFill>
          <a:ln w="6350">
            <a:solidFill>
              <a:srgbClr val="D0ED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657600"/>
            <a:ext cx="457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Match &amp; like logika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657600"/>
            <a:ext cx="3931920" cy="457200"/>
          </a:xfrm>
          <a:prstGeom prst="rect">
            <a:avLst/>
          </a:prstGeom>
          <a:solidFill>
            <a:srgbClr val="FFF0F5"/>
          </a:solidFill>
          <a:ln w="6350">
            <a:solidFill>
              <a:srgbClr val="F0D0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657600"/>
            <a:ext cx="4572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Skálázható architektúra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393192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D0ED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206240"/>
            <a:ext cx="457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WebSocket üzenetküldés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4206240"/>
            <a:ext cx="3931920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F0D0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4206240"/>
            <a:ext cx="45720" cy="4572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Automatikus API dokumentáció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E91E63">
              <a:alpha val="8000"/>
            </a:srgbClr>
          </a:solidFill>
          <a:ln w="12700">
            <a:solidFill>
              <a:srgbClr val="E91E63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897B">
              <a:alpha val="8000"/>
            </a:srgbClr>
          </a:solidFill>
          <a:ln w="12700">
            <a:solidFill>
              <a:srgbClr val="00897B">
                <a:alpha val="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alkalmazás bemutatása élőben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Regisztráció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Profil szerkesztés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Videó feltöltés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9496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Párosítás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49440" y="4160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C2185B">
              <a:alpha val="50000"/>
            </a:srgbClr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Összegzés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</a:rPr>
              <a:t>Kihívások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Videó streaming &amp; tárolás megvalósítása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Real-time WebSocket kommunikáció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Frontend–backend autentikáció szinkronizáció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9300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83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Adatbázis séma megtervezése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133088"/>
            <a:ext cx="228600" cy="2286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Responsive UX/UI kialakítása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</a:rPr>
              <a:t>Továbbfejlesztési lehetőségek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1572768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463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AI alapú párosítási algoritmus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212848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103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Mobilalkalmazás (React Native)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852928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Push értesítések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493008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383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Videóhívás funkció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4133088"/>
            <a:ext cx="228600" cy="2286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4023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030B"/>
                </a:solidFill>
              </a:rPr>
              <a:t>Moderációs rendszer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1005840"/>
            <a:ext cx="0" cy="3749040"/>
          </a:xfrm>
          <a:prstGeom prst="line">
            <a:avLst/>
          </a:prstGeom>
          <a:noFill/>
          <a:ln w="12700">
            <a:solidFill>
              <a:srgbClr val="D0C0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5486400" cy="5486400"/>
          </a:xfrm>
          <a:prstGeom prst="ellipse">
            <a:avLst/>
          </a:prstGeom>
          <a:solidFill>
            <a:srgbClr val="C2185B">
              <a:alpha val="10000"/>
            </a:srgbClr>
          </a:solidFill>
          <a:ln w="12700">
            <a:solidFill>
              <a:srgbClr val="C2185B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828800"/>
            <a:ext cx="3657600" cy="3657600"/>
          </a:xfrm>
          <a:prstGeom prst="ellipse">
            <a:avLst/>
          </a:prstGeom>
          <a:solidFill>
            <a:srgbClr val="E91E63">
              <a:alpha val="7000"/>
            </a:srgbClr>
          </a:solidFill>
          <a:ln w="12700">
            <a:solidFill>
              <a:srgbClr val="E91E63">
                <a:alpha val="7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Köszönöm a figyelmet!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80AB"/>
                </a:solidFill>
              </a:rPr>
              <a:t>Vidate – Videó-alapú Társkereső Alkalmazás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0" y="3337560"/>
            <a:ext cx="3657600" cy="3657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D6E4"/>
                </a:solidFill>
              </a:rPr>
              <a:t>Kérdések?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7E8A"/>
                </a:solidFill>
              </a:rPr>
              <a:t>github.com/Bernat00/Vidate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48234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7E8A"/>
                </a:solidFill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Vidate – Videó-alapú Társkereső Alkalmazás</dc:title>
  <dc:subject>PptxGenJS Presentation</dc:subject>
  <dc:creator>PptxGenJS</dc:creator>
  <cp:lastModifiedBy>PptxGenJS</cp:lastModifiedBy>
  <cp:revision>1</cp:revision>
  <dcterms:created xsi:type="dcterms:W3CDTF">2026-04-13T18:35:33Z</dcterms:created>
  <dcterms:modified xsi:type="dcterms:W3CDTF">2026-04-13T18:35:33Z</dcterms:modified>
</cp:coreProperties>
</file>